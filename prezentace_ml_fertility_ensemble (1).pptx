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258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Mluvím ~40 s.
- Jedna věta motivace: krátkodobě chceme průběžný odhad roku 2025 (do Q3), dlouhodobě roční scénáře 2025–2029.
- Důraz: nejde jen o bodovou predikci, ale o fan-chart a plánovací kvantil.
[Sources]
- (Podklady uživatele) /mnt/data/obhajoba_fertility_ensemble_5min.pptx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Mluvím ~35 s.
- Zdůrazni, že nowcast je “stav roku 2025 k Q3” a plynule navazuje na roční historii.
- Krátce: log‑škála dělá chybu relativní (multiplikativní), což se hodí pro demografické řady.
[Sources]
- (Podklady uživatele) /mnt/data/obhajoba_fertility_ensemble_5min.pptx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1796C-215C-849E-240A-60FB9964C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BF739-AEA8-5CE5-466B-2C433BEA2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C130A-58AC-2924-2531-A0EEDC39D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Mluvím ~35 s.
- Zdůrazni, že nowcast je “stav roku 2025 k Q3” a plynule navazuje na roční historii.
- Krátce: log‑škála dělá chybu relativní (multiplikativní), což se hodí pro demografické řady.
[Sources]
- (Podklady uživatele) /mnt/data/obhajoba_fertility_ensemble_5min.pptx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AAAD3-2842-D9BE-DA0D-A984574BD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14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BB6CA-FAD0-7EA3-64D2-0653F937C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A4E6A-1DAC-B932-4E51-E625C6ABA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44ACA-A509-214B-305A-FB6F29167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Mluvím ~35 s.
- Zdůrazni, že nowcast je “stav roku 2025 k Q3” a plynule navazuje na roční historii.
- Krátce: log‑škála dělá chybu relativní (multiplikativní), což se hodí pro demografické řady.
[Sources]
- (Podklady uživatele) /mnt/data/obhajoba_fertility_ensemble_5min.pptx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B31CF-4177-83DE-7CF0-F37190613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3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Mluvím ~35 s.
- Pointa: Q3 je poslední známý kvartál, takže roční číslo 2025 musíme “dopočítat”.
- Spojité napojení je kosmetika pro graf, ale důležité pro interpretaci.
[Sources]
- (Podklady uživatele) /mnt/data/popis modelu ensemble.ipynb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Mluvím ~45 s.
- Ukaž, že v4 v grafu táhne median níže a interval se rozšiřuje.
- Zdůrazni “signal vs. structure”: v4 je dobrý pro krátký horizont, ale může přestřelit na dlouhém.
[Sources]
- (Podklady uživatele) /mnt/data/popis modelu ensemble.ipynb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Mluvím ~45 s.
- Věcně: i při stejné plodnosti se porody mění podle velikosti kohort žen.
- V grafu je predikce mírnější (vyhlazená) než u v4.
[Sources]
- (Podklady uživatele) /mnt/data/popis modelu ensemble.ipynb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Mluvím ~35–40 s.
- Řekni: “intervaly musí ‘sedět’ – 90% interval má pokrýt ~90 % realizací”.
- PIT je standardní diagnostika kalibrace prediktivní distribuce.
[Sources]
- (Podklady uživatele) /mnt/data/popis modelu ensemble.ipynb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Mluvím ~45 s.
- Řekni: stacking není průměr bodovek, ale kombinace kvantilů.
- Regularizace: chceme robustní váhy, ne křehké přepínání.
[Sources]
- (Podklady uživatele) /mnt/data/popis modelu ensemble.ipynb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Mluvím ~40 s.
- Vysvětli, že váhy jsou “po horizontech”, protože co funguje na 1 rok, nemusí fungovat na 5 let.
- Upozorni na floor strukturálu: nechceme úplně vypnout strukturální informaci.
[Sources]
- (Podklady uživatele) /mnt/data/popis modelu ensemble.ipynb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Mluvím ~55 s.
- Projdi fan-chart: historie, nowcast hranice, median, interval 5–95, plánovací kvantil.
- Mean reversion prodej jako demografickou interpretaci (ne “optimismus”): struktura + tempo.
[Sources]
- (Podklady uživatele) /mnt/data/obhajoba_fertility_ensemble_5min.pptx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Mluvím ~35 s.
- Vypíchnout 4 body “obhajitelnosti” a říct 3 limity.
- Pokud je čas: navrhnout next steps (lepší covariáty, alternativní kalibrace, regionální rozpad).
[Sources]
- (Podklady uživatele) /mnt/data/obhajoba_fertility_ensemble_5min.pptx
- (Podklady uživatele) /mnt/data/popis modelu ensemble.ipynb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4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Predikce živě narozených dětí v ČR (2025-2029)</a:t>
            </a:r>
            <a:endParaRPr lang="cs-CZ" sz="4200" noProof="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200" noProof="0" dirty="0" err="1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Bayesovský</a:t>
            </a:r>
            <a:r>
              <a:rPr lang="cs-CZ" sz="2200" noProof="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ensemble model</a:t>
            </a:r>
            <a:endParaRPr lang="cs-CZ" sz="2200" noProof="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10881360" cy="0"/>
          </a:xfrm>
          <a:prstGeom prst="line">
            <a:avLst/>
          </a:prstGeom>
          <a:noFill/>
          <a:ln w="381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789920" cy="130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cs-CZ" sz="2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Cíl: krátkodobý </a:t>
            </a:r>
            <a:r>
              <a:rPr lang="cs-CZ" sz="20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nowcast</a:t>
            </a:r>
            <a:r>
              <a:rPr lang="cs-CZ" sz="2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(2025 Q3) a roční predikce 2025–2029</a:t>
            </a:r>
            <a:endParaRPr lang="cs-CZ" sz="2000" noProof="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cs-CZ" sz="2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Výstup č. 1: intervaly 5–95 % (interpretujeme je jako nejistotu predikce)</a:t>
            </a: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cs-CZ" sz="2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Výstup č. 2: + plánovací kvantil τ = 0.8333 dle </a:t>
            </a:r>
            <a:endParaRPr lang="cs-CZ" sz="2000" noProof="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cs-CZ" sz="2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Potenciální aplikace výsledků: plánování kapacit (MŠ/školy, zdravotnictví, regiony)</a:t>
            </a:r>
            <a:endParaRPr lang="cs-CZ" sz="2000" noProof="0" dirty="0"/>
          </a:p>
        </p:txBody>
      </p:sp>
      <p:pic>
        <p:nvPicPr>
          <p:cNvPr id="8" name="Image 0" descr="/mnt/data/eq/eq_pinball.png">
            <a:extLst>
              <a:ext uri="{FF2B5EF4-FFF2-40B4-BE49-F238E27FC236}">
                <a16:creationId xmlns:a16="http://schemas.microsoft.com/office/drawing/2014/main" id="{AD43C2BD-F4BE-D4F7-CD56-2B03D3596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493" y="2928816"/>
            <a:ext cx="5594267" cy="8440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1.1) Konstrukce modelu</a:t>
            </a:r>
            <a:endParaRPr lang="cs-CZ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4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Vstupní data a základní transformace</a:t>
            </a:r>
            <a:endParaRPr lang="cs-CZ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2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Vstupy</a:t>
            </a:r>
            <a:endParaRPr lang="cs-CZ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5715000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Roční časová řada živě narozených (ČSÚ): </a:t>
            </a:r>
            <a:r>
              <a:rPr lang="cs-CZ" sz="18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B_t</a:t>
            </a:r>
            <a:endParaRPr lang="cs-CZ" sz="1800" noProof="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Čtvrtletní data pro průběžný odhad 2025 (do Q3)</a:t>
            </a:r>
            <a:endParaRPr lang="cs-CZ" sz="1800" noProof="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Vysvětlující proměnné pro </a:t>
            </a:r>
            <a:r>
              <a:rPr lang="cs-CZ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v3.8</a:t>
            </a:r>
            <a:r>
              <a:rPr lang="cs-CZ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cs-CZ" sz="18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agregované demografické údaje, migrace (</a:t>
            </a:r>
            <a:r>
              <a:rPr lang="cs-CZ" sz="18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UA žen 15–49) + makro indikátory (</a:t>
            </a:r>
            <a:r>
              <a:rPr lang="cs-CZ" sz="18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</a:t>
            </a: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důchod, index dostupnosti bydlení</a:t>
            </a:r>
            <a:r>
              <a:rPr lang="cs-CZ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cs-CZ" sz="1800" noProof="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Vysvětlující proměnné pro </a:t>
            </a:r>
            <a:r>
              <a:rPr lang="cs-CZ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</a:t>
            </a:r>
            <a:r>
              <a:rPr lang="cs-CZ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</a:t>
            </a: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ěková struktura: expozice N</a:t>
            </a:r>
            <a:r>
              <a:rPr lang="cs-CZ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(počet žen podle věku) </a:t>
            </a: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věkově specifická míra plodnosti (ASFR) + další demografické údaje</a:t>
            </a: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Cílovou proměnnou transformujeme na logaritmickou škálu:</a:t>
            </a:r>
          </a:p>
          <a:p>
            <a:pPr>
              <a:spcAft>
                <a:spcPts val="600"/>
              </a:spcAft>
              <a:buSzPct val="100000"/>
            </a:pPr>
            <a:endParaRPr lang="cs-CZ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6949440" y="1280160"/>
            <a:ext cx="4251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cs-CZ" sz="14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Historická data (ČSÚ)</a:t>
            </a:r>
            <a:endParaRPr lang="cs-CZ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6949440" y="2148840"/>
            <a:ext cx="4251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cs-CZ" sz="14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Nowcast</a:t>
            </a:r>
            <a:r>
              <a:rPr lang="cs-CZ" sz="14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 Q3</a:t>
            </a:r>
            <a:endParaRPr lang="cs-CZ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6949440" y="3017520"/>
            <a:ext cx="4251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cs-CZ" sz="14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Modely (v4 / </a:t>
            </a:r>
            <a:r>
              <a:rPr lang="cs-CZ" sz="14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</a:t>
            </a:r>
            <a:r>
              <a:rPr lang="cs-CZ" sz="14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v3.8)</a:t>
            </a:r>
            <a:endParaRPr lang="cs-CZ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6949440" y="3886200"/>
            <a:ext cx="4251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cs-CZ" sz="14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</a:t>
            </a:r>
            <a:r>
              <a:rPr lang="cs-CZ" sz="14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r>
              <a:rPr lang="cs-CZ" sz="14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cs-CZ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6949440" y="4754880"/>
            <a:ext cx="4251960" cy="640080"/>
          </a:xfrm>
          <a:prstGeom prst="rect">
            <a:avLst/>
          </a:prstGeom>
          <a:solidFill>
            <a:srgbClr val="E8F2FF"/>
          </a:solidFill>
          <a:ln w="12700">
            <a:solidFill>
              <a:srgbClr val="CBD5E1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cs-CZ" sz="14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Kvantily 5/50/95 + </a:t>
            </a:r>
            <a:r>
              <a:rPr lang="cs-CZ" sz="14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q_τ</a:t>
            </a:r>
            <a:endParaRPr lang="cs-CZ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9079992" y="1920240"/>
            <a:ext cx="0" cy="22860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13" name="Shape 11"/>
          <p:cNvSpPr/>
          <p:nvPr/>
        </p:nvSpPr>
        <p:spPr>
          <a:xfrm>
            <a:off x="9079992" y="2788920"/>
            <a:ext cx="0" cy="22860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14" name="Shape 12"/>
          <p:cNvSpPr/>
          <p:nvPr/>
        </p:nvSpPr>
        <p:spPr>
          <a:xfrm>
            <a:off x="9079992" y="3657600"/>
            <a:ext cx="0" cy="22860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15" name="Shape 13"/>
          <p:cNvSpPr/>
          <p:nvPr/>
        </p:nvSpPr>
        <p:spPr>
          <a:xfrm>
            <a:off x="9079992" y="4526280"/>
            <a:ext cx="0" cy="22860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cs-CZ" noProof="0" dirty="0"/>
          </a:p>
        </p:txBody>
      </p:sp>
      <p:pic>
        <p:nvPicPr>
          <p:cNvPr id="16" name="Image 0" descr="/mnt/data/eq/eq_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381" y="4102882"/>
            <a:ext cx="2859578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DD76FC-9313-EAAC-81A8-E7BD6A16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F7F29E-62B2-4DEE-AE5A-F10AE99D1EDC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77C874-F906-D462-0A81-79A690B4CEB9}"/>
              </a:ext>
            </a:extLst>
          </p:cNvPr>
          <p:cNvSpPr/>
          <p:nvPr/>
        </p:nvSpPr>
        <p:spPr>
          <a:xfrm>
            <a:off x="502920" y="91440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1.2) Vysvětlující proměnné pro modely 3.8 a 4 </a:t>
            </a:r>
            <a:endParaRPr lang="cs-CZ" sz="24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5D0A66F-94CB-F498-1D90-3C3F02448CF4}"/>
              </a:ext>
            </a:extLst>
          </p:cNvPr>
          <p:cNvSpPr/>
          <p:nvPr/>
        </p:nvSpPr>
        <p:spPr>
          <a:xfrm>
            <a:off x="502920" y="420624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4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cs-CZ" sz="1400" noProof="0" dirty="0" err="1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oužité</a:t>
            </a:r>
            <a:r>
              <a:rPr lang="cs-CZ" sz="1400" noProof="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proměnné</a:t>
            </a:r>
            <a:endParaRPr lang="cs-CZ" sz="1400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C607C99-8264-2970-0A2E-005C1ACDC154}"/>
              </a:ext>
            </a:extLst>
          </p:cNvPr>
          <p:cNvSpPr/>
          <p:nvPr/>
        </p:nvSpPr>
        <p:spPr>
          <a:xfrm>
            <a:off x="502920" y="765439"/>
            <a:ext cx="6968588" cy="12287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cs-CZ" sz="24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Datový soubor pro model 3.8 a 4:</a:t>
            </a: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Roční časová řada živě narozených (ČSÚ)</a:t>
            </a: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noProof="0" dirty="0"/>
              <a:t>Počet porodů u matek 15-50+ (pomocná metrika)</a:t>
            </a: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/>
              <a:t>Celková míra plodnosti žen</a:t>
            </a: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/>
              <a:t>Parametry věkového rozdělení ma</a:t>
            </a:r>
            <a:r>
              <a:rPr lang="cs-CZ" noProof="0" dirty="0"/>
              <a:t>tek v čase t (mu, sigma)</a:t>
            </a: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/>
              <a:t>Index cen nemovitosti (báze = rok 2010)</a:t>
            </a: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/>
              <a:t>Čistý dispon</a:t>
            </a:r>
            <a:r>
              <a:rPr lang="cs-CZ" noProof="0" dirty="0"/>
              <a:t>ibilní důchod domácností</a:t>
            </a: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/>
              <a:t>Podíl žen 25-34 let s terciárním vzděláním (spojený s odkladem rodičovství)</a:t>
            </a: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dirty="0"/>
              <a:t>Roční migrační saldo</a:t>
            </a:r>
            <a:endParaRPr lang="cs-CZ" sz="1800" noProof="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noProof="0" dirty="0"/>
              <a:t>Exogenní </a:t>
            </a:r>
            <a:r>
              <a:rPr lang="cs-CZ" noProof="0" dirty="0" err="1"/>
              <a:t>dummy</a:t>
            </a:r>
            <a:r>
              <a:rPr lang="cs-CZ" noProof="0" dirty="0"/>
              <a:t> proměnné označující válečný šok v 2022 + jeho „exponenciální pokles“</a:t>
            </a: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/>
              <a:t>Počet </a:t>
            </a:r>
            <a:r>
              <a:rPr lang="cs-CZ" noProof="0" dirty="0"/>
              <a:t>přistěhovalých žen 15-49 se statusem dočasné ochrany</a:t>
            </a: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5385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7A0C8-A70E-9F45-D546-E117F773D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92706A-DE57-32A7-6163-882CB0D9B1AD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F4F6E5-C6F2-3350-65DA-2FC23B23B473}"/>
              </a:ext>
            </a:extLst>
          </p:cNvPr>
          <p:cNvSpPr/>
          <p:nvPr/>
        </p:nvSpPr>
        <p:spPr>
          <a:xfrm>
            <a:off x="502920" y="91440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cs-CZ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cs-CZ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Vysvětlující proměnné pro strukturální model</a:t>
            </a:r>
            <a:endParaRPr lang="cs-CZ" sz="24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38087C-7FE2-8145-4F5F-63B32F713E00}"/>
              </a:ext>
            </a:extLst>
          </p:cNvPr>
          <p:cNvSpPr/>
          <p:nvPr/>
        </p:nvSpPr>
        <p:spPr>
          <a:xfrm>
            <a:off x="502920" y="420624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4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cs-CZ" sz="1400" noProof="0" dirty="0" err="1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oužité</a:t>
            </a:r>
            <a:r>
              <a:rPr lang="cs-CZ" sz="1400" noProof="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proměnné</a:t>
            </a:r>
            <a:endParaRPr lang="cs-CZ" sz="1400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F95E05-DD79-3191-9E3D-CFD983444F72}"/>
              </a:ext>
            </a:extLst>
          </p:cNvPr>
          <p:cNvSpPr/>
          <p:nvPr/>
        </p:nvSpPr>
        <p:spPr>
          <a:xfrm>
            <a:off x="502919" y="945271"/>
            <a:ext cx="6601265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cs-CZ" sz="2400" b="1" noProof="0" dirty="0"/>
              <a:t>Datový soubor pro strukturální model:</a:t>
            </a:r>
            <a:endParaRPr lang="cs-CZ" sz="2800" b="1" noProof="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</a:t>
            </a:r>
            <a:r>
              <a:rPr lang="cs-CZ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cs-CZ" noProof="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Věk </a:t>
            </a:r>
            <a:r>
              <a:rPr lang="cs-CZ" sz="18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a_t</a:t>
            </a:r>
            <a:endParaRPr lang="cs-CZ" sz="1800" noProof="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Věková struktura: expozice </a:t>
            </a:r>
            <a:r>
              <a:rPr lang="cs-CZ" sz="18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</a:t>
            </a:r>
            <a:r>
              <a:rPr lang="en-US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a,t</a:t>
            </a:r>
            <a:r>
              <a:rPr lang="en-US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(počet žen ve věku </a:t>
            </a:r>
            <a:r>
              <a:rPr lang="cs-CZ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cs-CZ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roce </a:t>
            </a:r>
            <a:r>
              <a:rPr lang="cs-CZ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cs-CZ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ěkově specifická míra plodnosti na 1000 žen (</a:t>
            </a:r>
            <a:r>
              <a:rPr lang="cs-CZ" sz="18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ASFR_a,t</a:t>
            </a:r>
            <a:r>
              <a:rPr lang="cs-CZ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noProof="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ASFR v p</a:t>
            </a:r>
            <a:r>
              <a:rPr lang="cs-CZ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řepočtu</a:t>
            </a:r>
            <a:r>
              <a:rPr lang="cs-CZ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jednu ženu (</a:t>
            </a:r>
            <a:r>
              <a:rPr lang="cs-CZ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f_a,t</a:t>
            </a:r>
            <a:r>
              <a:rPr lang="cs-CZ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cs-CZ" noProof="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 živě narozených ve věku </a:t>
            </a:r>
            <a:r>
              <a:rPr lang="cs-CZ" sz="18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čase </a:t>
            </a:r>
            <a:r>
              <a:rPr lang="cs-CZ" sz="18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</a:t>
            </a: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cs-CZ" sz="18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B_a,t</a:t>
            </a:r>
            <a:r>
              <a:rPr lang="cs-CZ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Průměrný věk ženy při narození 1. dítěte (</a:t>
            </a:r>
            <a:r>
              <a:rPr lang="cs-CZ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MA_first</a:t>
            </a:r>
            <a:r>
              <a:rPr lang="cs-CZ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>
              <a:spcAft>
                <a:spcPts val="600"/>
              </a:spcAft>
              <a:buSzPct val="100000"/>
            </a:pPr>
            <a:endParaRPr lang="cs-CZ" noProof="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endParaRPr lang="cs-CZ" sz="1800" noProof="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endParaRPr lang="cs-CZ" sz="1800" noProof="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03786D8-FBF5-7034-F7F9-2A6EC7089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3803746"/>
            <a:ext cx="9692660" cy="118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29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</a:t>
            </a:r>
            <a:r>
              <a:rPr lang="cs-CZ" sz="2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Nowcast</a:t>
            </a:r>
            <a:r>
              <a:rPr lang="cs-CZ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(2025 Q3) a spojité napojení</a:t>
            </a:r>
            <a:endParaRPr lang="cs-CZ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4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cs-CZ" sz="1400" noProof="0" dirty="0" err="1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řechod</a:t>
            </a:r>
            <a:r>
              <a:rPr lang="cs-CZ" sz="1400" noProof="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kvartální predikce na roční</a:t>
            </a:r>
            <a:endParaRPr lang="cs-CZ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2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Nowcast</a:t>
            </a:r>
            <a:r>
              <a:rPr lang="cs-CZ" sz="22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cs-CZ" sz="22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Bayesovský</a:t>
            </a:r>
            <a:r>
              <a:rPr lang="cs-CZ" sz="22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odhad roku 2025</a:t>
            </a:r>
            <a:endParaRPr lang="cs-CZ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6035040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Pozorování do Q3: nemáme kompletní data pro rok B_2025</a:t>
            </a:r>
            <a:endParaRPr lang="cs-CZ" sz="1800" noProof="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Odhad na logaritmick</a:t>
            </a:r>
            <a:r>
              <a:rPr lang="cs-CZ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</a:t>
            </a: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škále a zobrazení kvantilů 5/50/95</a:t>
            </a:r>
            <a:endParaRPr lang="cs-CZ" sz="1800" noProof="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Plánovací kvantil </a:t>
            </a:r>
            <a:r>
              <a:rPr lang="cs-CZ" sz="18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q_τ</a:t>
            </a: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(τ=0.8333) pro “bezpečnější” kapacity</a:t>
            </a:r>
            <a:endParaRPr lang="cs-CZ" sz="1800" noProof="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cs-CZ" sz="18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grafech značíme svislou přerušovanou čárou: Stav dat je pro 2025 Q3</a:t>
            </a: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endParaRPr lang="cs-CZ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endParaRPr lang="cs-CZ" sz="1800" noProof="0" dirty="0"/>
          </a:p>
        </p:txBody>
      </p:sp>
      <p:sp>
        <p:nvSpPr>
          <p:cNvPr id="7" name="Shape 5"/>
          <p:cNvSpPr/>
          <p:nvPr/>
        </p:nvSpPr>
        <p:spPr>
          <a:xfrm>
            <a:off x="6949440" y="960120"/>
            <a:ext cx="461772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8" name="Text 6"/>
          <p:cNvSpPr/>
          <p:nvPr/>
        </p:nvSpPr>
        <p:spPr>
          <a:xfrm>
            <a:off x="7178040" y="1097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6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Implementační detail</a:t>
            </a:r>
            <a:endParaRPr lang="cs-CZ" sz="1600" noProof="0" dirty="0"/>
          </a:p>
        </p:txBody>
      </p:sp>
      <p:sp>
        <p:nvSpPr>
          <p:cNvPr id="10" name="Text 7"/>
          <p:cNvSpPr/>
          <p:nvPr/>
        </p:nvSpPr>
        <p:spPr>
          <a:xfrm>
            <a:off x="7178040" y="2148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noProof="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Nowcast</a:t>
            </a:r>
            <a:r>
              <a:rPr lang="cs-CZ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umístíme “mezi roky”, aby plynule navazoval na roční historii a predikci.</a:t>
            </a:r>
            <a:endParaRPr lang="cs-CZ" noProof="0" dirty="0"/>
          </a:p>
        </p:txBody>
      </p:sp>
      <p:sp>
        <p:nvSpPr>
          <p:cNvPr id="11" name="Shape 8"/>
          <p:cNvSpPr/>
          <p:nvPr/>
        </p:nvSpPr>
        <p:spPr>
          <a:xfrm>
            <a:off x="6949440" y="3520440"/>
            <a:ext cx="46177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noProof="0" dirty="0"/>
          </a:p>
        </p:txBody>
      </p:sp>
      <p:sp>
        <p:nvSpPr>
          <p:cNvPr id="12" name="Text 9"/>
          <p:cNvSpPr/>
          <p:nvPr/>
        </p:nvSpPr>
        <p:spPr>
          <a:xfrm>
            <a:off x="7178040" y="3703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6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se děje po Q3?</a:t>
            </a:r>
            <a:endParaRPr lang="cs-CZ" sz="1600" noProof="0" dirty="0"/>
          </a:p>
        </p:txBody>
      </p:sp>
      <p:sp>
        <p:nvSpPr>
          <p:cNvPr id="13" name="Text 10"/>
          <p:cNvSpPr/>
          <p:nvPr/>
        </p:nvSpPr>
        <p:spPr>
          <a:xfrm>
            <a:off x="7178040" y="4023360"/>
            <a:ext cx="4206240" cy="96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Extrapolujeme data pro B_2025</a:t>
            </a:r>
            <a:endParaRPr lang="cs-CZ" sz="1400" noProof="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2026 provádíme roční predikci pomocí našich modelů</a:t>
            </a:r>
            <a:endParaRPr lang="cs-CZ" sz="1400" noProof="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Držíme pro </a:t>
            </a:r>
            <a:r>
              <a:rPr lang="cs-CZ" sz="14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nowcast</a:t>
            </a: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konzistentní kvantily napříč všemi modely</a:t>
            </a:r>
            <a:endParaRPr lang="cs-CZ" sz="1400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698FD4-B10B-2DD4-167A-125FC63F1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87" y="3018440"/>
            <a:ext cx="6615253" cy="116494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DDA7241-F1E2-6C37-BBC0-FD4707618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371600"/>
            <a:ext cx="4134678" cy="7570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Model v4: regresní </a:t>
            </a:r>
            <a:r>
              <a:rPr lang="cs-CZ" sz="2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state‑space</a:t>
            </a:r>
            <a:r>
              <a:rPr lang="cs-CZ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(SSM) se zahrnutím migrace</a:t>
            </a:r>
            <a:endParaRPr lang="cs-CZ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4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cs-CZ" sz="1400" noProof="0" dirty="0" err="1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rátký</a:t>
            </a:r>
            <a:r>
              <a:rPr lang="cs-CZ" sz="1400" noProof="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horizont predikce vykazuje citlivost na exogenní signál</a:t>
            </a:r>
            <a:endParaRPr lang="cs-CZ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2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Zkrácený popis</a:t>
            </a:r>
            <a:endParaRPr lang="cs-CZ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5440680" cy="1132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4310" indent="-194310">
              <a:spcAft>
                <a:spcPts val="600"/>
              </a:spcAft>
              <a:buSzPct val="100000"/>
              <a:buChar char="•"/>
            </a:pPr>
            <a:r>
              <a:rPr lang="cs-CZ" sz="17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Lokální trend (LLT) pro porody na log-škály + vysvětlující proměnné </a:t>
            </a:r>
            <a:r>
              <a:rPr lang="cs-CZ" sz="17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</a:t>
            </a:r>
            <a:endParaRPr lang="cs-CZ" sz="1700" b="1" noProof="0" dirty="0"/>
          </a:p>
          <a:p>
            <a:pPr marL="194310" indent="-194310">
              <a:spcAft>
                <a:spcPts val="600"/>
              </a:spcAft>
              <a:buSzPct val="100000"/>
              <a:buChar char="•"/>
            </a:pPr>
            <a:r>
              <a:rPr lang="cs-CZ" sz="17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UA žen 15–49: zachytí krátkodobé změny v populaci souvislé s ekonomickým a </a:t>
            </a:r>
            <a:r>
              <a:rPr lang="cs-CZ" sz="17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válečním</a:t>
            </a:r>
            <a:r>
              <a:rPr lang="cs-CZ" sz="17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šokem</a:t>
            </a:r>
            <a:endParaRPr lang="cs-CZ" sz="1700" noProof="0" dirty="0"/>
          </a:p>
          <a:p>
            <a:pPr marL="194310" indent="-194310">
              <a:spcAft>
                <a:spcPts val="600"/>
              </a:spcAft>
              <a:buSzPct val="100000"/>
              <a:buChar char="•"/>
            </a:pPr>
            <a:r>
              <a:rPr lang="cs-CZ" sz="17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kratších horizontech (h=1–3) často nejlepší pinball </a:t>
            </a:r>
            <a:r>
              <a:rPr lang="cs-CZ" sz="17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cs-CZ" sz="1700" noProof="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4310" indent="-194310">
              <a:spcAft>
                <a:spcPts val="600"/>
              </a:spcAft>
              <a:buSzPct val="100000"/>
              <a:buChar char="•"/>
            </a:pPr>
            <a:r>
              <a:rPr lang="cs-CZ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Používáme </a:t>
            </a:r>
            <a:r>
              <a:rPr lang="cs-CZ" sz="17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</a:t>
            </a:r>
            <a:r>
              <a:rPr lang="cs-CZ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 pomocí </a:t>
            </a:r>
            <a:r>
              <a:rPr lang="cs-CZ" sz="17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Laplasového</a:t>
            </a:r>
            <a:r>
              <a:rPr lang="cs-CZ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rozdělení (ekvivalentní LASSO) a </a:t>
            </a:r>
            <a:r>
              <a:rPr lang="cs-CZ" sz="17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Gibbsův</a:t>
            </a:r>
            <a:r>
              <a:rPr lang="cs-CZ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vzorkovač </a:t>
            </a:r>
          </a:p>
          <a:p>
            <a:pPr marL="194310" indent="-194310">
              <a:spcAft>
                <a:spcPts val="600"/>
              </a:spcAft>
              <a:buSzPct val="100000"/>
              <a:buChar char="•"/>
            </a:pPr>
            <a:r>
              <a:rPr lang="cs-CZ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vyhla</a:t>
            </a:r>
            <a:r>
              <a:rPr lang="cs-CZ" sz="17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zení</a:t>
            </a:r>
            <a:r>
              <a:rPr lang="cs-CZ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trendu a odhad </a:t>
            </a:r>
            <a:r>
              <a:rPr lang="cs-CZ" sz="17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</a:t>
            </a:r>
            <a:r>
              <a:rPr lang="cs-CZ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cs-CZ" sz="17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b_t</a:t>
            </a:r>
            <a:r>
              <a:rPr lang="cs-CZ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používáme </a:t>
            </a:r>
            <a:r>
              <a:rPr lang="cs-CZ" sz="17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Kalmanův</a:t>
            </a:r>
            <a:r>
              <a:rPr lang="cs-CZ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17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cs-CZ" sz="17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4310" indent="-194310">
              <a:spcAft>
                <a:spcPts val="600"/>
              </a:spcAft>
              <a:buSzPct val="100000"/>
              <a:buChar char="•"/>
            </a:pPr>
            <a:endParaRPr lang="cs-CZ" sz="1700" noProof="0" dirty="0"/>
          </a:p>
        </p:txBody>
      </p:sp>
      <p:sp>
        <p:nvSpPr>
          <p:cNvPr id="9" name="Shape 5"/>
          <p:cNvSpPr/>
          <p:nvPr/>
        </p:nvSpPr>
        <p:spPr>
          <a:xfrm>
            <a:off x="6202682" y="960120"/>
            <a:ext cx="5638798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noProof="0" dirty="0"/>
          </a:p>
        </p:txBody>
      </p:sp>
      <p:pic>
        <p:nvPicPr>
          <p:cNvPr id="10" name="Image 2" descr="/mnt/data/84fad49b-d72b-47d2-a6ab-1233b5663f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682" y="2395062"/>
            <a:ext cx="5547358" cy="23749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79888A0-578D-3A8F-7A14-281FFAD96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62" y="3867292"/>
            <a:ext cx="6335202" cy="274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Strukturální věkový model</a:t>
            </a:r>
            <a:endParaRPr lang="cs-CZ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400" noProof="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 žen × věkově specifická míra plodnosti</a:t>
            </a:r>
            <a:endParaRPr lang="cs-CZ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2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Jádro modelu</a:t>
            </a:r>
            <a:endParaRPr lang="cs-CZ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5440680" cy="1132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4310" indent="-194310">
              <a:spcAft>
                <a:spcPts val="600"/>
              </a:spcAft>
              <a:buSzPct val="100000"/>
              <a:buChar char="•"/>
            </a:pPr>
            <a:r>
              <a:rPr lang="cs-CZ" sz="17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Rozklad porodů přes věk: porody = expozice × věková plodnost</a:t>
            </a:r>
            <a:endParaRPr lang="cs-CZ" sz="1700" noProof="0" dirty="0"/>
          </a:p>
          <a:p>
            <a:pPr marL="194310" indent="-194310">
              <a:spcAft>
                <a:spcPts val="600"/>
              </a:spcAft>
              <a:buSzPct val="100000"/>
              <a:buChar char="•"/>
            </a:pPr>
            <a:r>
              <a:rPr lang="cs-CZ" sz="17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Dynamický model rozlišuje mezi počtem žen a věkovým posunem</a:t>
            </a:r>
            <a:r>
              <a:rPr lang="en-US" sz="17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</a:t>
            </a:r>
            <a:r>
              <a:rPr lang="cs-CZ" sz="17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ůměrného</a:t>
            </a:r>
            <a:r>
              <a:rPr lang="cs-CZ" sz="17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věku (mu</a:t>
            </a:r>
            <a:r>
              <a:rPr lang="en-US" sz="17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_t)</a:t>
            </a:r>
            <a:endParaRPr lang="cs-CZ" sz="1700" noProof="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4310" indent="-194310">
              <a:spcAft>
                <a:spcPts val="600"/>
              </a:spcAft>
              <a:buSzPct val="100000"/>
              <a:buChar char="•"/>
            </a:pPr>
            <a:r>
              <a:rPr lang="cs-CZ" sz="17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cs-CZ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kryté trendy v LLT modelu odhadujeme </a:t>
            </a:r>
            <a:r>
              <a:rPr lang="cs-CZ" sz="17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Bayesovsky</a:t>
            </a:r>
            <a:r>
              <a:rPr lang="cs-CZ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 </a:t>
            </a:r>
            <a:r>
              <a:rPr lang="cs-CZ" sz="17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r>
              <a:rPr lang="cs-CZ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prior) a pomocí </a:t>
            </a:r>
            <a:r>
              <a:rPr lang="cs-CZ" sz="17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Gibbsova</a:t>
            </a:r>
            <a:r>
              <a:rPr lang="cs-CZ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vzorkovače</a:t>
            </a:r>
            <a:endParaRPr lang="cs-CZ" sz="1700" noProof="0" dirty="0"/>
          </a:p>
          <a:p>
            <a:pPr marL="194310" indent="-194310">
              <a:spcAft>
                <a:spcPts val="600"/>
              </a:spcAft>
              <a:buSzPct val="100000"/>
              <a:buChar char="•"/>
            </a:pPr>
            <a:r>
              <a:rPr lang="cs-CZ" sz="17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delších horizontech (h=4–5) ensemble se stabilizuje a po odeznění šoku se vrací k strukturálnímu modelu</a:t>
            </a:r>
          </a:p>
          <a:p>
            <a:pPr>
              <a:spcAft>
                <a:spcPts val="600"/>
              </a:spcAft>
              <a:buSzPct val="100000"/>
            </a:pPr>
            <a:endParaRPr lang="cs-CZ" sz="1700" noProof="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4310" indent="-194310">
              <a:spcAft>
                <a:spcPts val="600"/>
              </a:spcAft>
              <a:buSzPct val="100000"/>
              <a:buChar char="•"/>
            </a:pPr>
            <a:endParaRPr lang="cs-CZ" sz="1700" noProof="0" dirty="0"/>
          </a:p>
        </p:txBody>
      </p:sp>
      <p:sp>
        <p:nvSpPr>
          <p:cNvPr id="8" name="Shape 5"/>
          <p:cNvSpPr/>
          <p:nvPr/>
        </p:nvSpPr>
        <p:spPr>
          <a:xfrm>
            <a:off x="5989320" y="868680"/>
            <a:ext cx="585216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noProof="0" dirty="0"/>
          </a:p>
        </p:txBody>
      </p:sp>
      <p:pic>
        <p:nvPicPr>
          <p:cNvPr id="9" name="Image 1" descr="/mnt/data/9aa55fa7-16e1-40ea-b571-b387f78605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575" y="2305538"/>
            <a:ext cx="5756465" cy="24644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66024B-CE03-DC47-C6EE-5254FA2C7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72016"/>
            <a:ext cx="5180440" cy="129800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519868C-D129-B885-1BA4-57C196AFA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658650"/>
            <a:ext cx="4637258" cy="75953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61B0805-B46F-72AA-7B7A-C932002122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5379965"/>
            <a:ext cx="5923671" cy="14817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Model v3.8: PIT‑beta kalibrace</a:t>
            </a:r>
            <a:endParaRPr lang="cs-CZ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4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cs-CZ" sz="1400" noProof="0" dirty="0" err="1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alibrační</a:t>
            </a:r>
            <a:r>
              <a:rPr lang="cs-CZ" sz="1400" noProof="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vrstva pro prediktivní hustotu</a:t>
            </a:r>
            <a:endParaRPr lang="cs-CZ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2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chceme kalibrovat</a:t>
            </a:r>
            <a:r>
              <a:rPr lang="en-US" sz="22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</a:t>
            </a:r>
            <a:r>
              <a:rPr lang="cs-CZ" sz="22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cs-CZ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5440680" cy="130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cs-CZ" sz="16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může být dávat široké intervaly, proto ho používáme pro kontrolu kalibrace intervalu</a:t>
            </a:r>
            <a:endParaRPr lang="cs-CZ" sz="1600" noProof="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cs-CZ" sz="16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(Probability </a:t>
            </a:r>
            <a:r>
              <a:rPr lang="cs-CZ" sz="16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</a:t>
            </a:r>
            <a:r>
              <a:rPr lang="cs-CZ" sz="16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16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r>
              <a:rPr lang="cs-CZ" sz="16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cs-CZ" sz="16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Mapování na Beta-rozdělení (</a:t>
            </a:r>
            <a:r>
              <a:rPr lang="cs-CZ" sz="16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a_h</a:t>
            </a:r>
            <a:r>
              <a:rPr lang="cs-CZ" sz="16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cs-CZ" sz="16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b_h</a:t>
            </a:r>
            <a:r>
              <a:rPr lang="cs-CZ" sz="16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upravuje kvantily po horizontech</a:t>
            </a:r>
            <a:endParaRPr lang="cs-CZ" sz="1600" noProof="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cs-CZ" sz="16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</a:t>
            </a:r>
            <a:r>
              <a:rPr lang="cs-CZ" sz="16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stackingu</a:t>
            </a:r>
            <a:r>
              <a:rPr lang="cs-CZ" sz="16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daný model má nulovou vahou, ale je užitečný jako benchmark pro mediánovou predikci</a:t>
            </a:r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endParaRPr lang="cs-CZ" sz="16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endParaRPr lang="cs-CZ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5989320" y="868680"/>
            <a:ext cx="585216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noProof="0" dirty="0"/>
          </a:p>
        </p:txBody>
      </p:sp>
      <p:pic>
        <p:nvPicPr>
          <p:cNvPr id="9" name="Image 1" descr="/mnt/data/9c812d89-1a1f-4af0-b5b2-5031faf906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303716"/>
            <a:ext cx="5760720" cy="24663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cs-CZ" sz="1000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060570-DDBB-8CC6-0B91-C3CAF94B4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89" y="3310665"/>
            <a:ext cx="4045249" cy="6919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BC62CCD-9EE2-1E88-9604-748AE9717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0338" y="3856696"/>
            <a:ext cx="7123772" cy="21783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Ensemble (</a:t>
            </a:r>
            <a:r>
              <a:rPr lang="cs-CZ" sz="2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r>
              <a:rPr lang="cs-CZ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entropická </a:t>
            </a:r>
            <a:r>
              <a:rPr lang="cs-CZ" sz="2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regularizace</a:t>
            </a:r>
            <a:endParaRPr lang="cs-CZ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400" noProof="0" dirty="0" err="1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Výbě</a:t>
            </a:r>
            <a:r>
              <a:rPr lang="cs-CZ" sz="14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vah modelů</a:t>
            </a:r>
            <a:r>
              <a:rPr lang="cs-CZ" sz="1400" noProof="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podle horizontu, stabilizace </a:t>
            </a:r>
            <a:r>
              <a:rPr lang="cs-CZ" sz="1400" noProof="0" dirty="0" err="1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váh</a:t>
            </a:r>
            <a:r>
              <a:rPr lang="cs-CZ" sz="1400" noProof="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pomocí KL divergence</a:t>
            </a:r>
            <a:endParaRPr lang="cs-CZ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5806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noProof="0" dirty="0"/>
          </a:p>
        </p:txBody>
      </p:sp>
      <p:pic>
        <p:nvPicPr>
          <p:cNvPr id="6" name="Image 0" descr="/mnt/data/0fb6b9b1-bcbc-46c9-a20b-333c8d0898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41" y="1357889"/>
            <a:ext cx="5371106" cy="46930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8686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0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Kombinace kvantilů</a:t>
            </a:r>
            <a:r>
              <a:rPr lang="en-US" sz="20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</a:t>
            </a:r>
            <a:r>
              <a:rPr lang="cs-CZ" sz="20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</a:t>
            </a: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cs-CZ" sz="20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povědí:</a:t>
            </a:r>
            <a:endParaRPr lang="cs-CZ" sz="2000" noProof="0" dirty="0"/>
          </a:p>
        </p:txBody>
      </p:sp>
      <p:pic>
        <p:nvPicPr>
          <p:cNvPr id="8" name="Image 1" descr="/mnt/data/eq/eq_e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200599"/>
            <a:ext cx="5474473" cy="771769"/>
          </a:xfrm>
          <a:prstGeom prst="rect">
            <a:avLst/>
          </a:prstGeom>
        </p:spPr>
      </p:pic>
      <p:pic>
        <p:nvPicPr>
          <p:cNvPr id="9" name="Image 2" descr="/mnt/data/eq/eq_k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011" y="1619176"/>
            <a:ext cx="6058893" cy="9803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3680" y="2514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8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</a:t>
            </a:r>
            <a:r>
              <a:rPr lang="cs-CZ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používáme </a:t>
            </a:r>
            <a:r>
              <a:rPr lang="cs-CZ" sz="18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entropii?</a:t>
            </a:r>
            <a:endParaRPr lang="cs-CZ" sz="1800" noProof="0" dirty="0"/>
          </a:p>
        </p:txBody>
      </p:sp>
      <p:sp>
        <p:nvSpPr>
          <p:cNvPr id="11" name="Text 6"/>
          <p:cNvSpPr/>
          <p:nvPr/>
        </p:nvSpPr>
        <p:spPr>
          <a:xfrm>
            <a:off x="6629400" y="2834640"/>
            <a:ext cx="5257800" cy="96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Brání “</a:t>
            </a:r>
            <a:r>
              <a:rPr lang="cs-CZ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kolabování” k jednomu model kvůli šumu v </a:t>
            </a:r>
            <a:r>
              <a:rPr lang="cs-CZ" sz="14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backtestu</a:t>
            </a:r>
            <a:endParaRPr lang="cs-CZ" sz="1400" noProof="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Stabilizuje váhy napříč horizonty</a:t>
            </a:r>
            <a:endParaRPr lang="cs-CZ" sz="1400" noProof="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</a:t>
            </a:r>
            <a:r>
              <a:rPr lang="cs-CZ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 potom nám vychází i </a:t>
            </a: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minimální váha strukturálního modelu:</a:t>
            </a:r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endParaRPr lang="cs-CZ" sz="1400" noProof="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endParaRPr lang="cs-CZ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endParaRPr lang="cs-CZ" sz="1400" noProof="0" dirty="0"/>
          </a:p>
        </p:txBody>
      </p:sp>
      <p:sp>
        <p:nvSpPr>
          <p:cNvPr id="12" name="Text 7"/>
          <p:cNvSpPr/>
          <p:nvPr/>
        </p:nvSpPr>
        <p:spPr>
          <a:xfrm>
            <a:off x="6669155" y="4206238"/>
            <a:ext cx="5257800" cy="636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Váhy získáme z </a:t>
            </a:r>
            <a:r>
              <a:rPr lang="cs-CZ" b="1" noProof="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</a:t>
            </a:r>
            <a:r>
              <a:rPr lang="cs-CZ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b="1" noProof="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backtestu</a:t>
            </a:r>
            <a:r>
              <a:rPr lang="cs-CZ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(pinball </a:t>
            </a:r>
            <a:r>
              <a:rPr lang="cs-CZ" b="1" noProof="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r>
              <a:rPr lang="cs-CZ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τ):</a:t>
            </a:r>
            <a:endParaRPr lang="cs-CZ" b="1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48371F-0208-D72A-5F39-9A4AB0B5B1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011" y="3593927"/>
            <a:ext cx="3540318" cy="75449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34D9CF-FF5D-A29E-1E3D-A4674C6D74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4559127"/>
            <a:ext cx="8790179" cy="15433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Váhy v ensemble podle horizontu predikce</a:t>
            </a:r>
            <a:endParaRPr lang="cs-CZ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400" noProof="0" dirty="0" err="1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Zřeteln</a:t>
            </a:r>
            <a:r>
              <a:rPr lang="cs-CZ" sz="14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 změna režimu v h = 4</a:t>
            </a:r>
            <a:endParaRPr lang="cs-CZ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2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Tabulka vah</a:t>
            </a:r>
            <a:endParaRPr lang="cs-CZ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685800" y="1280160"/>
            <a:ext cx="6446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noProof="0" dirty="0"/>
          </a:p>
        </p:txBody>
      </p:sp>
      <p:pic>
        <p:nvPicPr>
          <p:cNvPr id="7" name="Image 0" descr="/mnt/data/weight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32888"/>
            <a:ext cx="6080760" cy="24323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0" y="1417320"/>
            <a:ext cx="4526280" cy="48920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9" name="Text 6"/>
          <p:cNvSpPr/>
          <p:nvPr/>
        </p:nvSpPr>
        <p:spPr>
          <a:xfrm>
            <a:off x="754380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8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Interpretace</a:t>
            </a:r>
            <a:endParaRPr lang="cs-CZ" sz="1800" noProof="0" dirty="0"/>
          </a:p>
        </p:txBody>
      </p:sp>
      <p:sp>
        <p:nvSpPr>
          <p:cNvPr id="10" name="Text 7"/>
          <p:cNvSpPr/>
          <p:nvPr/>
        </p:nvSpPr>
        <p:spPr>
          <a:xfrm>
            <a:off x="7543800" y="1965960"/>
            <a:ext cx="4206240" cy="96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h=1–3: dominuje v4 (rychlý signál z </a:t>
            </a:r>
            <a:r>
              <a:rPr lang="cs-CZ" sz="14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cs-CZ" sz="1400" noProof="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h=4–5: přebírá strukturální model (věk × míra)</a:t>
            </a:r>
            <a:endParaRPr lang="cs-CZ" sz="1400" noProof="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v3.8: v tomto váženém modelu slouží hlavně jako kalibrační benchmark</a:t>
            </a:r>
            <a:endParaRPr lang="cs-CZ" sz="1400" noProof="0" dirty="0"/>
          </a:p>
        </p:txBody>
      </p:sp>
      <p:sp>
        <p:nvSpPr>
          <p:cNvPr id="11" name="Text 8"/>
          <p:cNvSpPr/>
          <p:nvPr/>
        </p:nvSpPr>
        <p:spPr>
          <a:xfrm>
            <a:off x="7543800" y="30315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vidět, že e</a:t>
            </a:r>
            <a:r>
              <a:rPr lang="cs-CZ" sz="1600" b="1" noProof="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ntropická</a:t>
            </a:r>
            <a:r>
              <a:rPr lang="cs-CZ" sz="16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1600" b="1" noProof="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regularizace</a:t>
            </a:r>
            <a:r>
              <a:rPr lang="cs-CZ" sz="16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udržuje váhy stabilní (bez náhodného “přepínání”)</a:t>
            </a:r>
            <a:endParaRPr lang="cs-CZ" sz="1600" b="1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 Výsledek: predikce z modelu + interpretace</a:t>
            </a:r>
            <a:endParaRPr lang="cs-CZ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400" noProof="0" dirty="0" err="1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</a:t>
            </a:r>
            <a:r>
              <a:rPr lang="cs-CZ" sz="1400" noProof="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‑chart a “</a:t>
            </a:r>
            <a:r>
              <a:rPr lang="cs-CZ" sz="1400" noProof="0" dirty="0" err="1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r>
              <a:rPr lang="cs-CZ" sz="1400" noProof="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1400" noProof="0" dirty="0" err="1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reversion</a:t>
            </a:r>
            <a:r>
              <a:rPr lang="cs-CZ" sz="1400" noProof="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cs-CZ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110185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noProof="0" dirty="0"/>
          </a:p>
        </p:txBody>
      </p:sp>
      <p:pic>
        <p:nvPicPr>
          <p:cNvPr id="6" name="Image 0" descr="/mnt/data/28f18149-1182-44f2-8db7-0ef969c401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201" y="1051560"/>
            <a:ext cx="9290838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257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8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může ensemble po roce 2027 růst (“</a:t>
            </a:r>
            <a:r>
              <a:rPr lang="cs-CZ" sz="18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r>
              <a:rPr lang="cs-CZ" sz="18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18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reversion</a:t>
            </a:r>
            <a:r>
              <a:rPr lang="cs-CZ" sz="18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”)?</a:t>
            </a:r>
            <a:endParaRPr lang="cs-CZ" sz="180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5532120"/>
            <a:ext cx="10972800" cy="96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Mění se v času velikost kohort žen v plodném věku</a:t>
            </a:r>
            <a:endParaRPr lang="cs-CZ" sz="1400" noProof="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Dynamika modelu x 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r>
              <a:rPr lang="cs-CZ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čet dětí</a:t>
            </a: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 šoku se část odložených porodů může nastat později</a:t>
            </a:r>
            <a:endParaRPr lang="cs-CZ" sz="1400" noProof="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delších horizontech má větší váhu strukturální model (věk × míra plodnosti)</a:t>
            </a:r>
            <a:endParaRPr lang="cs-CZ" sz="14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 Shrnutí a omezení jednotlivých modelů</a:t>
            </a:r>
            <a:endParaRPr lang="cs-CZ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4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cs-CZ" sz="1400" noProof="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je výsledkem, co by šlo zlepšit v jednotlivých modelech</a:t>
            </a:r>
            <a:endParaRPr lang="cs-CZ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22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Shrnutí</a:t>
            </a:r>
            <a:endParaRPr lang="cs-CZ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11018520" cy="2971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10424160" cy="130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cs-CZ" sz="16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 modelů predikuje vrácení se k hodnotám v roce 2027 po odeznění ekonomického a válečného šoku</a:t>
            </a:r>
            <a:endParaRPr lang="cs-CZ" sz="1600" noProof="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cs-CZ" sz="16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Migrace byla explicitně zahrnuta do modelu jako důležitý demografický faktor pro modelování nejistoty v počtu žen</a:t>
            </a:r>
            <a:endParaRPr lang="cs-CZ" sz="1600" noProof="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cs-CZ" sz="16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Kombinace strukturálního a prediktivního modelu zajišťuje </a:t>
            </a:r>
            <a:r>
              <a:rPr lang="cs-CZ" sz="16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r>
              <a:rPr lang="cs-CZ" sz="16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-variance </a:t>
            </a:r>
            <a:r>
              <a:rPr lang="cs-CZ" sz="16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</a:t>
            </a:r>
            <a:r>
              <a:rPr lang="cs-CZ" sz="16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cs-CZ" sz="16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Regularizace</a:t>
            </a:r>
            <a:r>
              <a:rPr lang="cs-CZ" sz="16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vah modelů ukazuje vracení se endogennímu modelu po době ovlivněné externími faktory</a:t>
            </a:r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cs-CZ" sz="16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Penalizujeme pomocí pinball ztrátové funkce podstřelení skutečnosti model v poměru 5:1</a:t>
            </a:r>
            <a:endParaRPr lang="cs-CZ" sz="1600" noProof="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cs-CZ" sz="16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Podle plánovacího kvantilu s rezervou predikujeme hodnoty kolem 80 tisíc živě narozených dětí ročně</a:t>
            </a:r>
          </a:p>
          <a:p>
            <a:pPr marL="182880" indent="-182880">
              <a:spcAft>
                <a:spcPts val="600"/>
              </a:spcAft>
              <a:buSzPct val="100000"/>
              <a:buFontTx/>
              <a:buChar char="•"/>
            </a:pPr>
            <a:r>
              <a:rPr lang="cs-CZ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 použít </a:t>
            </a:r>
            <a:r>
              <a:rPr lang="cs-CZ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Bayesovský</a:t>
            </a:r>
            <a:r>
              <a:rPr lang="cs-CZ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přístup (</a:t>
            </a:r>
            <a:r>
              <a:rPr lang="cs-CZ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Laplaceova</a:t>
            </a:r>
            <a:r>
              <a:rPr lang="cs-CZ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regularizace</a:t>
            </a:r>
            <a:r>
              <a:rPr lang="cs-CZ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pro výběr proměnných pro model v4, který je ekvivalentní LASSO  </a:t>
            </a:r>
            <a:endParaRPr lang="cs-CZ" sz="1600" noProof="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cs-CZ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Nechali jsme také rozhodnout který model bude vítězný na základě použité entropické </a:t>
            </a:r>
            <a:r>
              <a:rPr lang="cs-CZ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regularizace</a:t>
            </a:r>
            <a:r>
              <a:rPr lang="cs-CZ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cs-CZ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stackingu</a:t>
            </a:r>
            <a:endParaRPr lang="cs-CZ" sz="16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8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Limitace jednotlivých modelů</a:t>
            </a:r>
            <a:endParaRPr lang="cs-CZ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4846320"/>
            <a:ext cx="10972800" cy="96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Složitá interpretace a citlivost na exogenní </a:t>
            </a:r>
            <a:r>
              <a:rPr lang="cs-CZ" sz="14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proměnné pro model v4: vyžaduje monitoring kvality vstupních dat a</a:t>
            </a:r>
            <a:endParaRPr lang="cs-CZ" sz="1400" noProof="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Strukturální model závisí na projekcích expozic a stabilitě věkových profilů v čase (nemůžeme vylučovat externí vlivy)</a:t>
            </a:r>
            <a:endParaRPr lang="cs-CZ" sz="1400" noProof="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Kalibrace (v3.8) vyžaduje dostatečně dlouhý </a:t>
            </a:r>
            <a:r>
              <a:rPr lang="cs-CZ" sz="14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r>
              <a:rPr lang="cs-CZ" sz="14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robustní odhad, což u nás právě nebylo možné zajistit</a:t>
            </a:r>
          </a:p>
          <a:p>
            <a:pPr>
              <a:spcAft>
                <a:spcPts val="500"/>
              </a:spcAft>
              <a:buSzPct val="100000"/>
            </a:pPr>
            <a:r>
              <a:rPr lang="cs-CZ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Nedostatky jednotlivých modelů snižujeme pomocí ensemble přístupu</a:t>
            </a:r>
            <a:endParaRPr lang="cs-CZ" sz="16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cs-CZ" sz="20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1972</Words>
  <Application>Microsoft Office PowerPoint</Application>
  <PresentationFormat>Widescreen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Артем Вітков</cp:lastModifiedBy>
  <cp:revision>4</cp:revision>
  <dcterms:created xsi:type="dcterms:W3CDTF">2026-01-13T15:23:01Z</dcterms:created>
  <dcterms:modified xsi:type="dcterms:W3CDTF">2026-01-14T17:07:39Z</dcterms:modified>
</cp:coreProperties>
</file>